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561" r:id="rId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7CA"/>
          </a:solidFill>
        </a:fill>
      </a:tcStyle>
    </a:wholeTbl>
    <a:band2H>
      <a:tcTxStyle/>
      <a:tcStyle>
        <a:tcBdr/>
        <a:fill>
          <a:solidFill>
            <a:srgbClr val="FCEC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0D6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9DDD0"/>
          </a:solidFill>
        </a:fill>
      </a:tcStyle>
    </a:wholeTbl>
    <a:band2H>
      <a:tcTxStyle/>
      <a:tcStyle>
        <a:tcBdr/>
        <a:fill>
          <a:solidFill>
            <a:srgbClr val="F4EF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99"/>
    <p:restoredTop sz="94629"/>
  </p:normalViewPr>
  <p:slideViewPr>
    <p:cSldViewPr snapToGrid="0">
      <p:cViewPr varScale="1">
        <p:scale>
          <a:sx n="108" d="100"/>
          <a:sy n="108" d="100"/>
        </p:scale>
        <p:origin x="1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Picture 4"/>
          <p:cNvPicPr>
            <a:picLocks noChangeAspect="1"/>
          </p:cNvPicPr>
          <p:nvPr/>
        </p:nvPicPr>
        <p:blipFill>
          <a:blip r:embed="rId2"/>
          <a:srcRect t="2948"/>
          <a:stretch>
            <a:fillRect/>
          </a:stretch>
        </p:blipFill>
        <p:spPr>
          <a:xfrm>
            <a:off x="71062" y="0"/>
            <a:ext cx="9001881" cy="6655828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4071937"/>
            <a:ext cx="6096000" cy="114300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</a:lvl1pPr>
            <a:lvl2pPr marL="0" indent="0" algn="ctr">
              <a:buSzTx/>
              <a:buNone/>
            </a:lvl2pPr>
            <a:lvl3pPr marL="0" indent="0" algn="ctr">
              <a:buSzTx/>
              <a:buNone/>
            </a:lvl3pPr>
            <a:lvl4pPr marL="0" indent="0" algn="ctr">
              <a:buSzTx/>
              <a:buNone/>
            </a:lvl4pPr>
            <a:lvl5pPr marL="0" indent="0" algn="ctr"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71438" y="3143254"/>
            <a:ext cx="9001126" cy="486671"/>
          </a:xfrm>
          <a:prstGeom prst="rect">
            <a:avLst/>
          </a:prstGeom>
        </p:spPr>
        <p:txBody>
          <a:bodyPr lIns="22424" tIns="22424" rIns="22424" bIns="22424"/>
          <a:lstStyle/>
          <a:p>
            <a:r>
              <a:t>Title Text</a:t>
            </a:r>
          </a:p>
        </p:txBody>
      </p:sp>
      <p:sp>
        <p:nvSpPr>
          <p:cNvPr id="15" name="TextBox 5"/>
          <p:cNvSpPr txBox="1"/>
          <p:nvPr/>
        </p:nvSpPr>
        <p:spPr>
          <a:xfrm>
            <a:off x="-109157" y="6387148"/>
            <a:ext cx="9362314" cy="311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3243" tIns="43243" rIns="43243" bIns="43243">
            <a:spAutoFit/>
          </a:bodyPr>
          <a:lstStyle/>
          <a:p>
            <a:pPr algn="ctr"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This material is based upon work supported by the U.S. Department of Energy Office of Science under Cooperative Agreement DE-SC0000661, the State of Michigan and Michigan </a:t>
            </a:r>
          </a:p>
          <a:p>
            <a:pPr algn="ctr">
              <a:defRPr sz="800">
                <a:latin typeface="Arial"/>
                <a:ea typeface="Arial"/>
                <a:cs typeface="Arial"/>
                <a:sym typeface="Arial"/>
              </a:defRPr>
            </a:pPr>
            <a:r>
              <a:t>  State University. Michigan State University designs and establishes FRIB as a DOE Office of Science National User Facility in support of the mission of the Office of Nuclear Physics.</a:t>
            </a:r>
          </a:p>
        </p:txBody>
      </p:sp>
      <p:sp>
        <p:nvSpPr>
          <p:cNvPr id="16" name="Rectangle 9"/>
          <p:cNvSpPr/>
          <p:nvPr/>
        </p:nvSpPr>
        <p:spPr>
          <a:xfrm>
            <a:off x="3011409" y="415238"/>
            <a:ext cx="2743204" cy="20999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endParaRPr/>
          </a:p>
        </p:txBody>
      </p:sp>
      <p:pic>
        <p:nvPicPr>
          <p:cNvPr id="17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471295"/>
            <a:ext cx="1600200" cy="2043892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553200" y="6203951"/>
            <a:ext cx="153343" cy="152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" name="Body Level One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- clea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03104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76200" y="1143000"/>
            <a:ext cx="8991600" cy="4953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ody Level One…"/>
          <p:cNvSpPr txBox="1">
            <a:spLocks noGrp="1"/>
          </p:cNvSpPr>
          <p:nvPr>
            <p:ph type="body" idx="1"/>
          </p:nvPr>
        </p:nvSpPr>
        <p:spPr>
          <a:xfrm>
            <a:off x="76200" y="1067099"/>
            <a:ext cx="8990922" cy="502741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76200" y="285753"/>
            <a:ext cx="8991600" cy="48577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pic>
        <p:nvPicPr>
          <p:cNvPr id="46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32574"/>
            <a:ext cx="9137923" cy="725428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100310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6200" y="281881"/>
            <a:ext cx="8991600" cy="486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430" tIns="22430" rIns="22430" bIns="2243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11942" y="1079824"/>
            <a:ext cx="4423232" cy="5027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82000" y="6568679"/>
            <a:ext cx="153343" cy="152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06430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803293" rtl="0" latinLnBrk="0">
        <a:lnSpc>
          <a:spcPct val="88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180178" marR="0" indent="-180178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▪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1pPr>
      <a:lvl2pPr marL="378522" marR="0" indent="-166813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2pPr>
      <a:lvl3pPr marL="627285" marR="0" indent="-196358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»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3pPr>
      <a:lvl4pPr marL="778330" marR="0" indent="-183744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4pPr>
      <a:lvl5pPr marL="1105947" marR="0" indent="-283136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»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5pPr>
      <a:lvl6pPr marL="2327665" marR="0" indent="-255129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–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6pPr>
      <a:lvl7pPr marL="2784704" marR="0" indent="-255129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–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7pPr>
      <a:lvl8pPr marL="3241743" marR="0" indent="-255129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–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8pPr>
      <a:lvl9pPr marL="3698778" marR="0" indent="-255130" algn="l" defTabSz="803293" rtl="0" latinLnBrk="0">
        <a:lnSpc>
          <a:spcPct val="90000"/>
        </a:lnSpc>
        <a:spcBef>
          <a:spcPts val="1200"/>
        </a:spcBef>
        <a:spcAft>
          <a:spcPts val="0"/>
        </a:spcAft>
        <a:buClrTx/>
        <a:buSzPct val="100000"/>
        <a:buFontTx/>
        <a:buChar char="–"/>
        <a:tabLst/>
        <a:defRPr sz="2200" b="0" i="0" u="none" strike="noStrike" cap="none" spc="0" baseline="0">
          <a:solidFill>
            <a:srgbClr val="064308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1pPr>
      <a:lvl2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2pPr>
      <a:lvl3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3pPr>
      <a:lvl4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4pPr>
      <a:lvl5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5pPr>
      <a:lvl6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6pPr>
      <a:lvl7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7pPr>
      <a:lvl8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8pPr>
      <a:lvl9pPr marL="0" marR="0" indent="0" algn="l" defTabSz="457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mbr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 txBox="1">
            <a:spLocks noGrp="1"/>
          </p:cNvSpPr>
          <p:nvPr>
            <p:ph type="title"/>
          </p:nvPr>
        </p:nvSpPr>
        <p:spPr>
          <a:xfrm>
            <a:off x="1005686" y="70748"/>
            <a:ext cx="6155820" cy="69535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699828">
              <a:lnSpc>
                <a:spcPct val="150000"/>
              </a:lnSpc>
              <a:defRPr sz="2300"/>
            </a:pPr>
            <a:r>
              <a:rPr dirty="0"/>
              <a:t>BAND Science Highlight</a:t>
            </a:r>
            <a:r>
              <a:rPr lang="en-US" dirty="0"/>
              <a:t>:</a:t>
            </a:r>
            <a:br>
              <a:rPr dirty="0"/>
            </a:br>
            <a:r>
              <a:rPr lang="en-US" sz="1800" i="1" dirty="0"/>
              <a:t>Bayesian calibration of the VAH model for heavy-ion collisions</a:t>
            </a:r>
            <a:endParaRPr sz="1800" i="1" dirty="0"/>
          </a:p>
        </p:txBody>
      </p:sp>
      <p:sp>
        <p:nvSpPr>
          <p:cNvPr id="57" name="Rectangle 7"/>
          <p:cNvSpPr txBox="1"/>
          <p:nvPr/>
        </p:nvSpPr>
        <p:spPr>
          <a:xfrm>
            <a:off x="171946" y="1261766"/>
            <a:ext cx="5865600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algn="just">
              <a:defRPr>
                <a:latin typeface="Cambria"/>
                <a:ea typeface="Cambria"/>
                <a:cs typeface="Cambria"/>
                <a:sym typeface="Cambria"/>
              </a:defRPr>
            </a:pPr>
            <a:endParaRPr dirty="0"/>
          </a:p>
        </p:txBody>
      </p:sp>
      <p:pic>
        <p:nvPicPr>
          <p:cNvPr id="60" name="BAND_logo_v2 copy.png" descr="BAND_logo_v2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506" y="50342"/>
            <a:ext cx="1966625" cy="851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NSF_4-Color_bitmap_Logo.png" descr="NSF_4-Color_bitm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7" y="25301"/>
            <a:ext cx="947549" cy="952501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97D0CA-3665-719F-BA23-83CE3DD32B22}"/>
              </a:ext>
            </a:extLst>
          </p:cNvPr>
          <p:cNvSpPr txBox="1"/>
          <p:nvPr/>
        </p:nvSpPr>
        <p:spPr>
          <a:xfrm rot="5400000">
            <a:off x="4588527" y="3831615"/>
            <a:ext cx="1841734" cy="500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JETSCAPE SIMS model</a:t>
            </a:r>
          </a:p>
          <a:p>
            <a:pPr algn="ctr"/>
            <a:r>
              <a:rPr lang="en-US" sz="1100" i="1" dirty="0">
                <a:solidFill>
                  <a:srgbClr val="0070C0"/>
                </a:solidFill>
              </a:rPr>
              <a:t>PRL 126 (2021) 242301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91343-1C7D-46B2-C1C2-683DB8B3D9C0}"/>
              </a:ext>
            </a:extLst>
          </p:cNvPr>
          <p:cNvSpPr txBox="1"/>
          <p:nvPr/>
        </p:nvSpPr>
        <p:spPr>
          <a:xfrm rot="5400000">
            <a:off x="4720783" y="1980078"/>
            <a:ext cx="1527982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VAH model</a:t>
            </a:r>
          </a:p>
          <a:p>
            <a:pPr algn="ctr"/>
            <a:r>
              <a:rPr lang="en-US" sz="1100" i="1" dirty="0">
                <a:solidFill>
                  <a:srgbClr val="0070C0"/>
                </a:solidFill>
              </a:rPr>
              <a:t>PRC 108 (2023) 054905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604A51F0-F082-911B-BA63-3A3F81CB40C7}"/>
              </a:ext>
            </a:extLst>
          </p:cNvPr>
          <p:cNvSpPr txBox="1"/>
          <p:nvPr/>
        </p:nvSpPr>
        <p:spPr>
          <a:xfrm>
            <a:off x="93762" y="5245008"/>
            <a:ext cx="5468779" cy="1384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1500" b="1">
                <a:latin typeface="Cambria"/>
                <a:ea typeface="Cambria"/>
                <a:cs typeface="Cambria"/>
                <a:sym typeface="Cambria"/>
              </a:defRPr>
            </a:pPr>
            <a:r>
              <a:rPr lang="en-US" sz="1200" dirty="0">
                <a:latin typeface="+mn-lt"/>
              </a:rPr>
              <a:t>Figure: </a:t>
            </a:r>
            <a:r>
              <a:rPr lang="en-US" sz="1200" b="0" dirty="0">
                <a:latin typeface="+mn-lt"/>
              </a:rPr>
              <a:t>Prior (grey) and posterior (colored) credible intervals for the tempera-</a:t>
            </a:r>
            <a:r>
              <a:rPr lang="en-US" sz="1200" b="0" dirty="0" err="1">
                <a:latin typeface="+mn-lt"/>
              </a:rPr>
              <a:t>ture</a:t>
            </a:r>
            <a:r>
              <a:rPr lang="en-US" sz="1200" b="0" dirty="0">
                <a:latin typeface="+mn-lt"/>
              </a:rPr>
              <a:t>-dependent specific bulk (left) and shear (right) viscosities in the new VAH model (top) and the JETSCAPE SIMS model (bottom). LHC data from </a:t>
            </a:r>
            <a:r>
              <a:rPr lang="en-US" sz="1200" b="0" dirty="0" err="1">
                <a:latin typeface="+mn-lt"/>
              </a:rPr>
              <a:t>Pb+Pb</a:t>
            </a:r>
            <a:r>
              <a:rPr lang="en-US" sz="1200" b="0" dirty="0">
                <a:latin typeface="+mn-lt"/>
              </a:rPr>
              <a:t> collisions at an energy of 2.76 </a:t>
            </a:r>
            <a:r>
              <a:rPr lang="en-US" sz="1200" b="0" dirty="0" err="1">
                <a:latin typeface="+mn-lt"/>
              </a:rPr>
              <a:t>TeV</a:t>
            </a:r>
            <a:r>
              <a:rPr lang="en-US" sz="1200" b="0" dirty="0">
                <a:latin typeface="+mn-lt"/>
              </a:rPr>
              <a:t> per nucleon pair were used for the </a:t>
            </a:r>
            <a:r>
              <a:rPr lang="en-US" sz="1200" b="0" dirty="0" err="1">
                <a:latin typeface="+mn-lt"/>
              </a:rPr>
              <a:t>calibra-tion</a:t>
            </a:r>
            <a:r>
              <a:rPr lang="en-US" sz="1200" b="0" dirty="0">
                <a:latin typeface="+mn-lt"/>
              </a:rPr>
              <a:t>. The bottom panels show the information gain (</a:t>
            </a:r>
            <a:r>
              <a:rPr lang="en-US" sz="1200" b="0" dirty="0" err="1">
                <a:latin typeface="+mn-lt"/>
              </a:rPr>
              <a:t>Kullback-Leibler</a:t>
            </a:r>
            <a:r>
              <a:rPr lang="en-US" sz="1200" b="0" dirty="0">
                <a:latin typeface="+mn-lt"/>
              </a:rPr>
              <a:t> divergence) from the prior to the posterior probability distributions as a function of tempera-</a:t>
            </a:r>
            <a:r>
              <a:rPr lang="en-US" sz="1200" b="0" dirty="0" err="1">
                <a:latin typeface="+mn-lt"/>
              </a:rPr>
              <a:t>ture</a:t>
            </a:r>
            <a:r>
              <a:rPr lang="en-US" sz="1200" b="0" dirty="0">
                <a:latin typeface="+mn-lt"/>
              </a:rPr>
              <a:t>. </a:t>
            </a:r>
            <a:r>
              <a:rPr lang="en-US" sz="1200" b="0" i="1" dirty="0">
                <a:latin typeface="+mn-lt"/>
              </a:rPr>
              <a:t>Note the different temperature ranges explored by the two models.</a:t>
            </a:r>
            <a:endParaRPr sz="1200" b="0" i="1" dirty="0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B51B4F-675C-E169-A910-25BE175C468F}"/>
              </a:ext>
            </a:extLst>
          </p:cNvPr>
          <p:cNvSpPr txBox="1"/>
          <p:nvPr/>
        </p:nvSpPr>
        <p:spPr>
          <a:xfrm>
            <a:off x="5726361" y="1243251"/>
            <a:ext cx="3477016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The novel Viscous Anisotropic Hydrodynamics (VAH) model can simulate relativistic heavy-ion collisions from very early times, eliminating the need for a separate far-off-equilibrium pre-hydrodynamic model. </a:t>
            </a:r>
            <a:r>
              <a:rPr lang="en-US" dirty="0">
                <a:latin typeface="Arial" panose="020B0604020202020204" pitchFamily="34" charset="0"/>
              </a:rPr>
              <a:t>VAH was calibrated on LHC data </a:t>
            </a:r>
            <a:r>
              <a:rPr lang="en-US" b="0" i="0" dirty="0">
                <a:effectLst/>
                <a:latin typeface="Arial" panose="020B0604020202020204" pitchFamily="34" charset="0"/>
              </a:rPr>
              <a:t>using  Bayesian tools in the BAND </a:t>
            </a:r>
            <a:r>
              <a:rPr lang="en-US" dirty="0">
                <a:latin typeface="Arial" panose="020B0604020202020204" pitchFamily="34" charset="0"/>
              </a:rPr>
              <a:t>S</a:t>
            </a:r>
            <a:r>
              <a:rPr lang="en-US" b="0" i="0" dirty="0">
                <a:effectLst/>
                <a:latin typeface="Arial" panose="020B0604020202020204" pitchFamily="34" charset="0"/>
              </a:rPr>
              <a:t>oftware </a:t>
            </a:r>
            <a:r>
              <a:rPr lang="en-US" dirty="0">
                <a:latin typeface="Arial" panose="020B0604020202020204" pitchFamily="34" charset="0"/>
              </a:rPr>
              <a:t>F</a:t>
            </a:r>
            <a:r>
              <a:rPr lang="en-US" b="0" i="0" dirty="0">
                <a:effectLst/>
                <a:latin typeface="Arial" panose="020B0604020202020204" pitchFamily="34" charset="0"/>
              </a:rPr>
              <a:t>ramework. This calibration allowed us to constrain the specific shear and bulk viscosities of quark-gluon plasma up to tempera-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tures</a:t>
            </a:r>
            <a:r>
              <a:rPr lang="en-US" b="0" i="0" dirty="0">
                <a:effectLst/>
                <a:latin typeface="Arial" panose="020B0604020202020204" pitchFamily="34" charset="0"/>
              </a:rPr>
              <a:t> of about 700 MeV, much higher than for any previous analysis.</a:t>
            </a:r>
          </a:p>
          <a:p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</a:endParaRPr>
          </a:p>
          <a:p>
            <a:r>
              <a:rPr lang="en-US" sz="1400" i="1" dirty="0">
                <a:solidFill>
                  <a:srgbClr val="0070C0"/>
                </a:solidFill>
                <a:latin typeface="Arial" panose="020B0604020202020204" pitchFamily="34" charset="0"/>
              </a:rPr>
              <a:t>Liyanage et al.,  PRC 108 (2023) 054905</a:t>
            </a:r>
            <a:endParaRPr lang="en-US" sz="1400" i="1" dirty="0">
              <a:solidFill>
                <a:srgbClr val="0070C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ECADB2-C141-54E3-795B-711134D94A52}"/>
              </a:ext>
            </a:extLst>
          </p:cNvPr>
          <p:cNvGrpSpPr/>
          <p:nvPr/>
        </p:nvGrpSpPr>
        <p:grpSpPr>
          <a:xfrm>
            <a:off x="131570" y="988383"/>
            <a:ext cx="5264497" cy="4211241"/>
            <a:chOff x="131570" y="1012133"/>
            <a:chExt cx="5264497" cy="421124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DABCEA6-B837-C009-183B-27768A6EC847}"/>
                </a:ext>
              </a:extLst>
            </p:cNvPr>
            <p:cNvGrpSpPr/>
            <p:nvPr/>
          </p:nvGrpSpPr>
          <p:grpSpPr>
            <a:xfrm>
              <a:off x="133140" y="1012133"/>
              <a:ext cx="5262927" cy="4211241"/>
              <a:chOff x="1498801" y="1400391"/>
              <a:chExt cx="5153459" cy="447838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42650355-029D-0CBB-6799-22451DAD1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8801" y="3854171"/>
                <a:ext cx="5153459" cy="2024607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B340A5-0430-C1B4-FFC2-13332CBEC91E}"/>
                  </a:ext>
                </a:extLst>
              </p:cNvPr>
              <p:cNvSpPr txBox="1"/>
              <p:nvPr/>
            </p:nvSpPr>
            <p:spPr>
              <a:xfrm>
                <a:off x="2112146" y="1400391"/>
                <a:ext cx="4332578" cy="319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/>
                  <a:t>specific bulk viscosity                             specific shear viscosity</a:t>
                </a:r>
              </a:p>
            </p:txBody>
          </p:sp>
        </p:grpSp>
        <p:pic>
          <p:nvPicPr>
            <p:cNvPr id="3" name="Picture 2" descr="A graph of a function&#10;&#10;Description automatically generated with medium confidence">
              <a:extLst>
                <a:ext uri="{FF2B5EF4-FFF2-40B4-BE49-F238E27FC236}">
                  <a16:creationId xmlns:a16="http://schemas.microsoft.com/office/drawing/2014/main" id="{C80E7086-53D6-E58E-245A-402D2AFEA8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3" b="2737"/>
            <a:stretch/>
          </p:blipFill>
          <p:spPr>
            <a:xfrm>
              <a:off x="131570" y="1300250"/>
              <a:ext cx="2651760" cy="2067813"/>
            </a:xfrm>
            <a:prstGeom prst="rect">
              <a:avLst/>
            </a:prstGeom>
          </p:spPr>
        </p:pic>
        <p:pic>
          <p:nvPicPr>
            <p:cNvPr id="5" name="Picture 4" descr="A graph of a number of numbers&#10;&#10;Description automatically generated with medium confidence">
              <a:extLst>
                <a:ext uri="{FF2B5EF4-FFF2-40B4-BE49-F238E27FC236}">
                  <a16:creationId xmlns:a16="http://schemas.microsoft.com/office/drawing/2014/main" id="{6B275CDF-96B5-5A47-C24E-86F2A8D5DC86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54" b="4604"/>
            <a:stretch/>
          </p:blipFill>
          <p:spPr>
            <a:xfrm>
              <a:off x="2788353" y="1291021"/>
              <a:ext cx="2542032" cy="2057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401480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RIB3">
  <a:themeElements>
    <a:clrScheme name="FRIB3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0000FF"/>
      </a:hlink>
      <a:folHlink>
        <a:srgbClr val="FF00FF"/>
      </a:folHlink>
    </a:clrScheme>
    <a:fontScheme name="FRIB3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IB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IB3">
  <a:themeElements>
    <a:clrScheme name="FRIB3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0000FF"/>
      </a:hlink>
      <a:folHlink>
        <a:srgbClr val="FF00FF"/>
      </a:folHlink>
    </a:clrScheme>
    <a:fontScheme name="FRIB3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IB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224</Words>
  <Application>Microsoft Macintosh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Helvetica</vt:lpstr>
      <vt:lpstr>FRIB3</vt:lpstr>
      <vt:lpstr>BAND Science Highlight: Bayesian calibration of the VAH model for heavy-ion collisions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 Science Highlight Calibration of VAH model for heavy-ion collisions</dc:title>
  <cp:lastModifiedBy>Heinz, Uli</cp:lastModifiedBy>
  <cp:revision>8</cp:revision>
  <dcterms:modified xsi:type="dcterms:W3CDTF">2023-11-20T17:53:57Z</dcterms:modified>
</cp:coreProperties>
</file>