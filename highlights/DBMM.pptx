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
  </p:notesMasterIdLst>
  <p:sldIdLst>
    <p:sldId id="258" r:id="rId2"/>
    <p:sldId id="259"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05"/>
    <p:restoredTop sz="94605"/>
  </p:normalViewPr>
  <p:slideViewPr>
    <p:cSldViewPr snapToGrid="0" snapToObjects="1">
      <p:cViewPr varScale="1">
        <p:scale>
          <a:sx n="103" d="100"/>
          <a:sy n="103" d="100"/>
        </p:scale>
        <p:origin x="179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DB80C-535A-D145-84AA-26D56A540BEE}" type="datetimeFigureOut">
              <a:rPr lang="en-US" smtClean="0"/>
              <a:t>11/10/23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3E650-DCE6-BD44-8272-B2BA0D2BEAA4}" type="slidenum">
              <a:rPr lang="en-US" smtClean="0"/>
              <a:t>‹#›</a:t>
            </a:fld>
            <a:endParaRPr lang="en-US"/>
          </a:p>
        </p:txBody>
      </p:sp>
    </p:spTree>
    <p:extLst>
      <p:ext uri="{BB962C8B-B14F-4D97-AF65-F5344CB8AC3E}">
        <p14:creationId xmlns:p14="http://schemas.microsoft.com/office/powerpoint/2010/main" val="654252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3E650-DCE6-BD44-8272-B2BA0D2BEAA4}" type="slidenum">
              <a:rPr lang="en-US" smtClean="0"/>
              <a:t>1</a:t>
            </a:fld>
            <a:endParaRPr lang="en-US"/>
          </a:p>
        </p:txBody>
      </p:sp>
    </p:spTree>
    <p:extLst>
      <p:ext uri="{BB962C8B-B14F-4D97-AF65-F5344CB8AC3E}">
        <p14:creationId xmlns:p14="http://schemas.microsoft.com/office/powerpoint/2010/main" val="462216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 clean bottom">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669777" y="1320108"/>
            <a:ext cx="7864929" cy="348490"/>
          </a:xfrm>
          <a:prstGeom prst="rect">
            <a:avLst/>
          </a:prstGeom>
          <a:noFill/>
          <a:ln w="12700">
            <a:noFill/>
            <a:miter lim="800000"/>
            <a:headEnd/>
            <a:tailEnd/>
          </a:ln>
          <a:effectLst>
            <a:outerShdw blurRad="63500" dist="107763" dir="2700000" algn="ctr" rotWithShape="0">
              <a:schemeClr val="folHlink">
                <a:alpha val="74998"/>
              </a:schemeClr>
            </a:outerShdw>
          </a:effectLst>
        </p:spPr>
        <p:txBody>
          <a:bodyPr lIns="91374" tIns="45687" rIns="91374" bIns="45687">
            <a:spAutoFit/>
          </a:bodyPr>
          <a:lstStyle/>
          <a:p>
            <a:pPr defTabSz="456996" eaLnBrk="0" fontAlgn="base" hangingPunct="0">
              <a:lnSpc>
                <a:spcPct val="90000"/>
              </a:lnSpc>
              <a:spcBef>
                <a:spcPct val="0"/>
              </a:spcBef>
              <a:spcAft>
                <a:spcPct val="0"/>
              </a:spcAft>
              <a:defRPr/>
            </a:pPr>
            <a:endParaRPr lang="en-US" dirty="0">
              <a:solidFill>
                <a:prstClr val="black"/>
              </a:solidFill>
              <a:latin typeface="Helvetica" pitchFamily="-107" charset="0"/>
              <a:ea typeface="ヒラギノ角ゴ Pro W3" pitchFamily="-107" charset="-128"/>
              <a:cs typeface="Arial" charset="0"/>
            </a:endParaRPr>
          </a:p>
        </p:txBody>
      </p:sp>
      <p:sp>
        <p:nvSpPr>
          <p:cNvPr id="6" name="Rectangle 5"/>
          <p:cNvSpPr>
            <a:spLocks noChangeArrowheads="1"/>
          </p:cNvSpPr>
          <p:nvPr/>
        </p:nvSpPr>
        <p:spPr bwMode="auto">
          <a:xfrm>
            <a:off x="4115405" y="3009305"/>
            <a:ext cx="9144000" cy="369265"/>
          </a:xfrm>
          <a:prstGeom prst="rect">
            <a:avLst/>
          </a:prstGeom>
          <a:noFill/>
          <a:ln w="12700">
            <a:noFill/>
            <a:miter lim="800000"/>
            <a:headEnd/>
            <a:tailEnd/>
          </a:ln>
          <a:effectLst>
            <a:outerShdw blurRad="63500" dist="107763" dir="2700000" algn="ctr" rotWithShape="0">
              <a:schemeClr val="folHlink">
                <a:alpha val="74998"/>
              </a:schemeClr>
            </a:outerShdw>
          </a:effectLst>
        </p:spPr>
        <p:txBody>
          <a:bodyPr lIns="91374" tIns="45687" rIns="91374" bIns="45687">
            <a:spAutoFit/>
          </a:bodyPr>
          <a:lstStyle/>
          <a:p>
            <a:pPr defTabSz="456996" fontAlgn="base">
              <a:spcBef>
                <a:spcPct val="0"/>
              </a:spcBef>
              <a:spcAft>
                <a:spcPct val="0"/>
              </a:spcAft>
              <a:defRPr/>
            </a:pPr>
            <a:endParaRPr lang="en-US" dirty="0">
              <a:solidFill>
                <a:prstClr val="black"/>
              </a:solidFill>
              <a:latin typeface="Arial" charset="0"/>
              <a:ea typeface="ヒラギノ角ゴ Pro W3" pitchFamily="-107" charset="-128"/>
              <a:cs typeface="Arial" charset="0"/>
            </a:endParaRPr>
          </a:p>
        </p:txBody>
      </p:sp>
    </p:spTree>
    <p:extLst>
      <p:ext uri="{BB962C8B-B14F-4D97-AF65-F5344CB8AC3E}">
        <p14:creationId xmlns:p14="http://schemas.microsoft.com/office/powerpoint/2010/main" val="233146533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5596" y="75904"/>
            <a:ext cx="8992810" cy="486668"/>
          </a:xfrm>
          <a:prstGeom prst="rect">
            <a:avLst/>
          </a:prstGeom>
          <a:noFill/>
          <a:ln w="12700">
            <a:noFill/>
            <a:miter lim="800000"/>
            <a:headEnd/>
            <a:tailEnd/>
          </a:ln>
        </p:spPr>
        <p:txBody>
          <a:bodyPr vert="horz" wrap="square" lIns="56076" tIns="22431" rIns="56076" bIns="22431" numCol="1" anchor="ctr" anchorCtr="0" compatLnSpc="1">
            <a:prstTxWarp prst="textNoShape">
              <a:avLst/>
            </a:prstTxWarp>
            <a:spAutoFit/>
          </a:bodyPr>
          <a:lstStyle/>
          <a:p>
            <a:pPr lvl="0"/>
            <a:r>
              <a:rPr lang="en-US"/>
              <a:t>Click to edit Master title style</a:t>
            </a:r>
          </a:p>
        </p:txBody>
      </p:sp>
      <p:sp>
        <p:nvSpPr>
          <p:cNvPr id="1027" name="Rectangle 6"/>
          <p:cNvSpPr>
            <a:spLocks noGrp="1" noChangeArrowheads="1"/>
          </p:cNvSpPr>
          <p:nvPr>
            <p:ph type="body" idx="1"/>
          </p:nvPr>
        </p:nvSpPr>
        <p:spPr bwMode="auto">
          <a:xfrm>
            <a:off x="75596" y="1067100"/>
            <a:ext cx="8992810" cy="502741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6"/>
          <p:cNvSpPr>
            <a:spLocks noGrp="1"/>
          </p:cNvSpPr>
          <p:nvPr>
            <p:ph type="ftr" sz="quarter" idx="3"/>
          </p:nvPr>
        </p:nvSpPr>
        <p:spPr>
          <a:xfrm>
            <a:off x="4140680" y="6356450"/>
            <a:ext cx="4241321" cy="364628"/>
          </a:xfrm>
          <a:prstGeom prst="rect">
            <a:avLst/>
          </a:prstGeom>
        </p:spPr>
        <p:txBody>
          <a:bodyPr lIns="0" tIns="45712" rIns="0" bIns="45712" anchor="b"/>
          <a:lstStyle>
            <a:lvl1pPr algn="r" eaLnBrk="0" hangingPunct="0">
              <a:lnSpc>
                <a:spcPct val="90000"/>
              </a:lnSpc>
              <a:defRPr sz="1000" smtClean="0">
                <a:solidFill>
                  <a:srgbClr val="064308"/>
                </a:solidFill>
                <a:latin typeface="Arial"/>
                <a:ea typeface="+mn-ea"/>
                <a:cs typeface="Arial"/>
              </a:defRPr>
            </a:lvl1pPr>
          </a:lstStyle>
          <a:p>
            <a:pPr fontAlgn="base">
              <a:spcBef>
                <a:spcPct val="0"/>
              </a:spcBef>
              <a:spcAft>
                <a:spcPct val="0"/>
              </a:spcAft>
              <a:defRPr/>
            </a:pPr>
            <a:r>
              <a:rPr lang="en-US"/>
              <a:t>Laboratory Advisory Committee Meeting 25 January 2016</a:t>
            </a:r>
            <a:endParaRPr lang="en-US" dirty="0"/>
          </a:p>
        </p:txBody>
      </p:sp>
      <p:sp>
        <p:nvSpPr>
          <p:cNvPr id="9" name="Slide Number Placeholder 4"/>
          <p:cNvSpPr>
            <a:spLocks noGrp="1"/>
          </p:cNvSpPr>
          <p:nvPr>
            <p:ph type="sldNum" sz="quarter" idx="4"/>
          </p:nvPr>
        </p:nvSpPr>
        <p:spPr>
          <a:xfrm>
            <a:off x="8382000" y="6356450"/>
            <a:ext cx="762000" cy="364628"/>
          </a:xfrm>
          <a:prstGeom prst="rect">
            <a:avLst/>
          </a:prstGeom>
        </p:spPr>
        <p:txBody>
          <a:bodyPr vert="horz" wrap="square" lIns="0" tIns="45712" rIns="0" bIns="45712" numCol="1" anchor="b" anchorCtr="0" compatLnSpc="1">
            <a:prstTxWarp prst="textNoShape">
              <a:avLst/>
            </a:prstTxWarp>
          </a:bodyPr>
          <a:lstStyle>
            <a:lvl1pPr eaLnBrk="0" hangingPunct="0">
              <a:lnSpc>
                <a:spcPct val="90000"/>
              </a:lnSpc>
              <a:defRPr sz="1000">
                <a:solidFill>
                  <a:srgbClr val="064308"/>
                </a:solidFill>
                <a:ea typeface="ヒラギノ角ゴ Pro W3" charset="-128"/>
                <a:cs typeface="+mn-cs"/>
              </a:defRPr>
            </a:lvl1pPr>
          </a:lstStyle>
          <a:p>
            <a:pPr fontAlgn="base">
              <a:spcBef>
                <a:spcPct val="0"/>
              </a:spcBef>
              <a:spcAft>
                <a:spcPct val="0"/>
              </a:spcAft>
              <a:defRPr/>
            </a:pPr>
            <a:r>
              <a:rPr lang="en-US">
                <a:latin typeface="Arial" pitchFamily="34" charset="0"/>
              </a:rPr>
              <a:t>, Slide </a:t>
            </a:r>
            <a:fld id="{D30A2C6D-39BC-4576-856C-8743CF76CCF1}" type="slidenum">
              <a:rPr lang="en-US">
                <a:latin typeface="Arial" pitchFamily="34" charset="0"/>
              </a:rPr>
              <a:pPr fontAlgn="base">
                <a:spcBef>
                  <a:spcPct val="0"/>
                </a:spcBef>
                <a:spcAft>
                  <a:spcPct val="0"/>
                </a:spcAft>
                <a:defRPr/>
              </a:pPr>
              <a:t>‹#›</a:t>
            </a:fld>
            <a:endParaRPr lang="en-US">
              <a:latin typeface="Arial" pitchFamily="34" charset="0"/>
            </a:endParaRPr>
          </a:p>
        </p:txBody>
      </p:sp>
    </p:spTree>
    <p:extLst>
      <p:ext uri="{BB962C8B-B14F-4D97-AF65-F5344CB8AC3E}">
        <p14:creationId xmlns:p14="http://schemas.microsoft.com/office/powerpoint/2010/main" val="199939013"/>
      </p:ext>
    </p:extLst>
  </p:cSld>
  <p:clrMap bg1="lt1" tx1="dk1" bg2="lt2" tx2="dk2" accent1="accent1" accent2="accent2" accent3="accent3" accent4="accent4" accent5="accent5" accent6="accent6" hlink="hlink" folHlink="folHlink"/>
  <p:sldLayoutIdLst>
    <p:sldLayoutId id="2147483663" r:id="rId1"/>
  </p:sldLayoutIdLst>
  <p:hf hdr="0" dt="0"/>
  <p:txStyles>
    <p:titleStyle>
      <a:lvl1pPr algn="ctr" defTabSz="803293" rtl="0" eaLnBrk="1" fontAlgn="base" hangingPunct="1">
        <a:lnSpc>
          <a:spcPct val="88000"/>
        </a:lnSpc>
        <a:spcBef>
          <a:spcPct val="0"/>
        </a:spcBef>
        <a:spcAft>
          <a:spcPct val="0"/>
        </a:spcAft>
        <a:defRPr sz="3200" b="1">
          <a:solidFill>
            <a:srgbClr val="064308"/>
          </a:solidFill>
          <a:latin typeface="Arial" charset="0"/>
          <a:ea typeface="ＭＳ Ｐゴシック" pitchFamily="-65" charset="-128"/>
          <a:cs typeface="ＭＳ Ｐゴシック" pitchFamily="-65" charset="-128"/>
        </a:defRPr>
      </a:lvl1pPr>
      <a:lvl2pPr algn="ctr" defTabSz="803293" rtl="0" eaLnBrk="1" fontAlgn="base" hangingPunct="1">
        <a:lnSpc>
          <a:spcPct val="88000"/>
        </a:lnSpc>
        <a:spcBef>
          <a:spcPct val="0"/>
        </a:spcBef>
        <a:spcAft>
          <a:spcPct val="0"/>
        </a:spcAft>
        <a:defRPr sz="3200" b="1">
          <a:solidFill>
            <a:srgbClr val="064308"/>
          </a:solidFill>
          <a:latin typeface="Arial" charset="0"/>
          <a:ea typeface="ＭＳ Ｐゴシック" pitchFamily="-65" charset="-128"/>
          <a:cs typeface="ＭＳ Ｐゴシック" pitchFamily="-65" charset="-128"/>
        </a:defRPr>
      </a:lvl2pPr>
      <a:lvl3pPr algn="ctr" defTabSz="803293" rtl="0" eaLnBrk="1" fontAlgn="base" hangingPunct="1">
        <a:lnSpc>
          <a:spcPct val="88000"/>
        </a:lnSpc>
        <a:spcBef>
          <a:spcPct val="0"/>
        </a:spcBef>
        <a:spcAft>
          <a:spcPct val="0"/>
        </a:spcAft>
        <a:defRPr sz="3200" b="1">
          <a:solidFill>
            <a:srgbClr val="064308"/>
          </a:solidFill>
          <a:latin typeface="Arial" charset="0"/>
          <a:ea typeface="ＭＳ Ｐゴシック" pitchFamily="-65" charset="-128"/>
          <a:cs typeface="ＭＳ Ｐゴシック" pitchFamily="-65" charset="-128"/>
        </a:defRPr>
      </a:lvl3pPr>
      <a:lvl4pPr algn="ctr" defTabSz="803293" rtl="0" eaLnBrk="1" fontAlgn="base" hangingPunct="1">
        <a:lnSpc>
          <a:spcPct val="88000"/>
        </a:lnSpc>
        <a:spcBef>
          <a:spcPct val="0"/>
        </a:spcBef>
        <a:spcAft>
          <a:spcPct val="0"/>
        </a:spcAft>
        <a:defRPr sz="3200" b="1">
          <a:solidFill>
            <a:srgbClr val="064308"/>
          </a:solidFill>
          <a:latin typeface="Arial" charset="0"/>
          <a:ea typeface="ＭＳ Ｐゴシック" pitchFamily="-65" charset="-128"/>
          <a:cs typeface="ＭＳ Ｐゴシック" pitchFamily="-65" charset="-128"/>
        </a:defRPr>
      </a:lvl4pPr>
      <a:lvl5pPr algn="ctr" defTabSz="803293" rtl="0" eaLnBrk="1" fontAlgn="base" hangingPunct="1">
        <a:lnSpc>
          <a:spcPct val="88000"/>
        </a:lnSpc>
        <a:spcBef>
          <a:spcPct val="0"/>
        </a:spcBef>
        <a:spcAft>
          <a:spcPct val="0"/>
        </a:spcAft>
        <a:defRPr sz="3200" b="1">
          <a:solidFill>
            <a:srgbClr val="064308"/>
          </a:solidFill>
          <a:latin typeface="Arial" charset="0"/>
          <a:ea typeface="ＭＳ Ｐゴシック" pitchFamily="-65" charset="-128"/>
          <a:cs typeface="ＭＳ Ｐゴシック" pitchFamily="-65" charset="-128"/>
        </a:defRPr>
      </a:lvl5pPr>
      <a:lvl6pPr marL="457036" algn="ctr" defTabSz="807750" rtl="0" eaLnBrk="1" fontAlgn="base" hangingPunct="1">
        <a:lnSpc>
          <a:spcPct val="88000"/>
        </a:lnSpc>
        <a:spcBef>
          <a:spcPct val="0"/>
        </a:spcBef>
        <a:spcAft>
          <a:spcPct val="0"/>
        </a:spcAft>
        <a:defRPr sz="3200" b="1">
          <a:solidFill>
            <a:srgbClr val="064308"/>
          </a:solidFill>
          <a:latin typeface="Arial" charset="0"/>
          <a:ea typeface="Arial" charset="0"/>
          <a:cs typeface="Arial" charset="0"/>
        </a:defRPr>
      </a:lvl6pPr>
      <a:lvl7pPr marL="914074" algn="ctr" defTabSz="807750" rtl="0" eaLnBrk="1" fontAlgn="base" hangingPunct="1">
        <a:lnSpc>
          <a:spcPct val="88000"/>
        </a:lnSpc>
        <a:spcBef>
          <a:spcPct val="0"/>
        </a:spcBef>
        <a:spcAft>
          <a:spcPct val="0"/>
        </a:spcAft>
        <a:defRPr sz="3200" b="1">
          <a:solidFill>
            <a:srgbClr val="064308"/>
          </a:solidFill>
          <a:latin typeface="Arial" charset="0"/>
          <a:ea typeface="Arial" charset="0"/>
          <a:cs typeface="Arial" charset="0"/>
        </a:defRPr>
      </a:lvl7pPr>
      <a:lvl8pPr marL="1371109" algn="ctr" defTabSz="807750" rtl="0" eaLnBrk="1" fontAlgn="base" hangingPunct="1">
        <a:lnSpc>
          <a:spcPct val="88000"/>
        </a:lnSpc>
        <a:spcBef>
          <a:spcPct val="0"/>
        </a:spcBef>
        <a:spcAft>
          <a:spcPct val="0"/>
        </a:spcAft>
        <a:defRPr sz="3200" b="1">
          <a:solidFill>
            <a:srgbClr val="064308"/>
          </a:solidFill>
          <a:latin typeface="Arial" charset="0"/>
          <a:ea typeface="Arial" charset="0"/>
          <a:cs typeface="Arial" charset="0"/>
        </a:defRPr>
      </a:lvl8pPr>
      <a:lvl9pPr marL="1828148" algn="ctr" defTabSz="807750" rtl="0" eaLnBrk="1" fontAlgn="base" hangingPunct="1">
        <a:lnSpc>
          <a:spcPct val="88000"/>
        </a:lnSpc>
        <a:spcBef>
          <a:spcPct val="0"/>
        </a:spcBef>
        <a:spcAft>
          <a:spcPct val="0"/>
        </a:spcAft>
        <a:defRPr sz="3200" b="1">
          <a:solidFill>
            <a:srgbClr val="064308"/>
          </a:solidFill>
          <a:latin typeface="Arial" charset="0"/>
          <a:ea typeface="Arial" charset="0"/>
          <a:cs typeface="Arial" charset="0"/>
        </a:defRPr>
      </a:lvl9pPr>
    </p:titleStyle>
    <p:bodyStyle>
      <a:lvl1pPr marL="180178" indent="-180178" algn="l" defTabSz="803293" rtl="0" eaLnBrk="1" fontAlgn="base" hangingPunct="1">
        <a:lnSpc>
          <a:spcPct val="90000"/>
        </a:lnSpc>
        <a:spcBef>
          <a:spcPts val="1206"/>
        </a:spcBef>
        <a:spcAft>
          <a:spcPct val="0"/>
        </a:spcAft>
        <a:buSzPct val="100000"/>
        <a:buFont typeface="Wingdings" pitchFamily="2" charset="2"/>
        <a:buChar char="§"/>
        <a:defRPr sz="2200">
          <a:solidFill>
            <a:srgbClr val="064308"/>
          </a:solidFill>
          <a:latin typeface="Arial" charset="0"/>
          <a:ea typeface="ＭＳ Ｐゴシック" pitchFamily="-65" charset="-128"/>
          <a:cs typeface="ＭＳ Ｐゴシック" pitchFamily="-65" charset="-128"/>
        </a:defRPr>
      </a:lvl1pPr>
      <a:lvl2pPr marL="363359" indent="-151650" algn="l" defTabSz="803293" rtl="0" eaLnBrk="1" fontAlgn="base" hangingPunct="1">
        <a:lnSpc>
          <a:spcPct val="90000"/>
        </a:lnSpc>
        <a:spcBef>
          <a:spcPts val="201"/>
        </a:spcBef>
        <a:spcAft>
          <a:spcPct val="0"/>
        </a:spcAft>
        <a:buSzPct val="100000"/>
        <a:buFont typeface="Arial" pitchFamily="34" charset="0"/>
        <a:buChar char="•"/>
        <a:defRPr sz="2000">
          <a:solidFill>
            <a:schemeClr val="tx1"/>
          </a:solidFill>
          <a:latin typeface="Arial" charset="0"/>
          <a:ea typeface="ＭＳ Ｐゴシック" charset="-128"/>
          <a:cs typeface="ＭＳ Ｐゴシック"/>
        </a:defRPr>
      </a:lvl2pPr>
      <a:lvl3pPr marL="591584" indent="-160658" algn="l" defTabSz="803293" rtl="0" eaLnBrk="1" fontAlgn="base" hangingPunct="1">
        <a:lnSpc>
          <a:spcPct val="90000"/>
        </a:lnSpc>
        <a:spcBef>
          <a:spcPts val="201"/>
        </a:spcBef>
        <a:spcAft>
          <a:spcPct val="0"/>
        </a:spcAft>
        <a:buSzPct val="100000"/>
        <a:buFont typeface="Lucida Grande" charset="0"/>
        <a:buChar char="»"/>
        <a:defRPr>
          <a:solidFill>
            <a:schemeClr val="tx1"/>
          </a:solidFill>
          <a:latin typeface="Arial" charset="0"/>
          <a:ea typeface="ヒラギノ角ゴ Pro W3" pitchFamily="-111" charset="-128"/>
          <a:cs typeface="ヒラギノ角ゴ Pro W3" pitchFamily="-111" charset="-128"/>
        </a:defRPr>
      </a:lvl3pPr>
      <a:lvl4pPr marL="728219" indent="-133632" algn="l" defTabSz="803293" rtl="0" eaLnBrk="1" fontAlgn="base" hangingPunct="1">
        <a:lnSpc>
          <a:spcPct val="90000"/>
        </a:lnSpc>
        <a:spcBef>
          <a:spcPts val="201"/>
        </a:spcBef>
        <a:spcAft>
          <a:spcPct val="0"/>
        </a:spcAft>
        <a:buClr>
          <a:srgbClr val="999999"/>
        </a:buClr>
        <a:buSzPct val="100000"/>
        <a:buFont typeface="Arial" pitchFamily="34" charset="0"/>
        <a:buChar char="•"/>
        <a:defRPr sz="1600">
          <a:solidFill>
            <a:schemeClr val="tx1"/>
          </a:solidFill>
          <a:latin typeface="+mn-lt"/>
          <a:ea typeface="ヒラギノ角ゴ Pro W3" pitchFamily="-111" charset="-128"/>
          <a:cs typeface="ヒラギノ角ゴ Pro W3"/>
        </a:defRPr>
      </a:lvl4pPr>
      <a:lvl5pPr marL="1002991" indent="-180178" algn="l" defTabSz="803293" rtl="0" eaLnBrk="1" fontAlgn="base" hangingPunct="1">
        <a:lnSpc>
          <a:spcPct val="90000"/>
        </a:lnSpc>
        <a:spcBef>
          <a:spcPts val="201"/>
        </a:spcBef>
        <a:spcAft>
          <a:spcPct val="0"/>
        </a:spcAft>
        <a:buClr>
          <a:srgbClr val="999999"/>
        </a:buClr>
        <a:buSzPct val="100000"/>
        <a:buFont typeface="Lucida Grande" charset="0"/>
        <a:buChar char="»"/>
        <a:defRPr sz="1400">
          <a:solidFill>
            <a:schemeClr val="tx1"/>
          </a:solidFill>
          <a:latin typeface="+mn-lt"/>
          <a:ea typeface="ヒラギノ角ゴ Pro W3" pitchFamily="-111" charset="-128"/>
          <a:cs typeface="ヒラギノ角ゴ Pro W3"/>
        </a:defRPr>
      </a:lvl5pPr>
      <a:lvl6pPr marL="2223294" indent="-150759" algn="l" defTabSz="807750" rtl="0" eaLnBrk="1" fontAlgn="base" hangingPunct="1">
        <a:lnSpc>
          <a:spcPct val="90000"/>
        </a:lnSpc>
        <a:spcBef>
          <a:spcPct val="10000"/>
        </a:spcBef>
        <a:spcAft>
          <a:spcPct val="0"/>
        </a:spcAft>
        <a:buSzPct val="100000"/>
        <a:buChar char="–"/>
        <a:defRPr sz="1300">
          <a:solidFill>
            <a:schemeClr val="tx1"/>
          </a:solidFill>
          <a:latin typeface="Helvetica" charset="0"/>
          <a:ea typeface="+mn-ea"/>
          <a:cs typeface="+mn-cs"/>
        </a:defRPr>
      </a:lvl6pPr>
      <a:lvl7pPr marL="2680333" indent="-150759" algn="l" defTabSz="807750" rtl="0" eaLnBrk="1" fontAlgn="base" hangingPunct="1">
        <a:lnSpc>
          <a:spcPct val="90000"/>
        </a:lnSpc>
        <a:spcBef>
          <a:spcPct val="10000"/>
        </a:spcBef>
        <a:spcAft>
          <a:spcPct val="0"/>
        </a:spcAft>
        <a:buSzPct val="100000"/>
        <a:buChar char="–"/>
        <a:defRPr sz="1300">
          <a:solidFill>
            <a:schemeClr val="tx1"/>
          </a:solidFill>
          <a:latin typeface="Helvetica" charset="0"/>
          <a:ea typeface="+mn-ea"/>
          <a:cs typeface="+mn-cs"/>
        </a:defRPr>
      </a:lvl7pPr>
      <a:lvl8pPr marL="3137372" indent="-150759" algn="l" defTabSz="807750" rtl="0" eaLnBrk="1" fontAlgn="base" hangingPunct="1">
        <a:lnSpc>
          <a:spcPct val="90000"/>
        </a:lnSpc>
        <a:spcBef>
          <a:spcPct val="10000"/>
        </a:spcBef>
        <a:spcAft>
          <a:spcPct val="0"/>
        </a:spcAft>
        <a:buSzPct val="100000"/>
        <a:buChar char="–"/>
        <a:defRPr sz="1300">
          <a:solidFill>
            <a:schemeClr val="tx1"/>
          </a:solidFill>
          <a:latin typeface="Helvetica" charset="0"/>
          <a:ea typeface="+mn-ea"/>
          <a:cs typeface="+mn-cs"/>
        </a:defRPr>
      </a:lvl8pPr>
      <a:lvl9pPr marL="3594407" indent="-150759" algn="l" defTabSz="807750" rtl="0" eaLnBrk="1" fontAlgn="base" hangingPunct="1">
        <a:lnSpc>
          <a:spcPct val="90000"/>
        </a:lnSpc>
        <a:spcBef>
          <a:spcPct val="10000"/>
        </a:spcBef>
        <a:spcAft>
          <a:spcPct val="0"/>
        </a:spcAft>
        <a:buSzPct val="100000"/>
        <a:buChar char="–"/>
        <a:defRPr sz="1300">
          <a:solidFill>
            <a:schemeClr val="tx1"/>
          </a:solidFill>
          <a:latin typeface="Helvetica" charset="0"/>
          <a:ea typeface="+mn-ea"/>
          <a:cs typeface="+mn-cs"/>
        </a:defRPr>
      </a:lvl9pPr>
    </p:bodyStyle>
    <p:otherStyle>
      <a:defPPr>
        <a:defRPr lang="en-US"/>
      </a:defPPr>
      <a:lvl1pPr marL="0" algn="l" defTabSz="914074" rtl="0" eaLnBrk="1" latinLnBrk="0" hangingPunct="1">
        <a:defRPr sz="1800" kern="1200">
          <a:solidFill>
            <a:schemeClr val="tx1"/>
          </a:solidFill>
          <a:latin typeface="+mn-lt"/>
          <a:ea typeface="+mn-ea"/>
          <a:cs typeface="+mn-cs"/>
        </a:defRPr>
      </a:lvl1pPr>
      <a:lvl2pPr marL="457036" algn="l" defTabSz="914074" rtl="0" eaLnBrk="1" latinLnBrk="0" hangingPunct="1">
        <a:defRPr sz="1800" kern="1200">
          <a:solidFill>
            <a:schemeClr val="tx1"/>
          </a:solidFill>
          <a:latin typeface="+mn-lt"/>
          <a:ea typeface="+mn-ea"/>
          <a:cs typeface="+mn-cs"/>
        </a:defRPr>
      </a:lvl2pPr>
      <a:lvl3pPr marL="914074" algn="l" defTabSz="914074" rtl="0" eaLnBrk="1" latinLnBrk="0" hangingPunct="1">
        <a:defRPr sz="1800" kern="1200">
          <a:solidFill>
            <a:schemeClr val="tx1"/>
          </a:solidFill>
          <a:latin typeface="+mn-lt"/>
          <a:ea typeface="+mn-ea"/>
          <a:cs typeface="+mn-cs"/>
        </a:defRPr>
      </a:lvl3pPr>
      <a:lvl4pPr marL="1371109" algn="l" defTabSz="914074" rtl="0" eaLnBrk="1" latinLnBrk="0" hangingPunct="1">
        <a:defRPr sz="1800" kern="1200">
          <a:solidFill>
            <a:schemeClr val="tx1"/>
          </a:solidFill>
          <a:latin typeface="+mn-lt"/>
          <a:ea typeface="+mn-ea"/>
          <a:cs typeface="+mn-cs"/>
        </a:defRPr>
      </a:lvl4pPr>
      <a:lvl5pPr marL="1828148" algn="l" defTabSz="914074" rtl="0" eaLnBrk="1" latinLnBrk="0" hangingPunct="1">
        <a:defRPr sz="1800" kern="1200">
          <a:solidFill>
            <a:schemeClr val="tx1"/>
          </a:solidFill>
          <a:latin typeface="+mn-lt"/>
          <a:ea typeface="+mn-ea"/>
          <a:cs typeface="+mn-cs"/>
        </a:defRPr>
      </a:lvl5pPr>
      <a:lvl6pPr marL="2285186" algn="l" defTabSz="914074" rtl="0" eaLnBrk="1" latinLnBrk="0" hangingPunct="1">
        <a:defRPr sz="1800" kern="1200">
          <a:solidFill>
            <a:schemeClr val="tx1"/>
          </a:solidFill>
          <a:latin typeface="+mn-lt"/>
          <a:ea typeface="+mn-ea"/>
          <a:cs typeface="+mn-cs"/>
        </a:defRPr>
      </a:lvl6pPr>
      <a:lvl7pPr marL="2742224" algn="l" defTabSz="914074" rtl="0" eaLnBrk="1" latinLnBrk="0" hangingPunct="1">
        <a:defRPr sz="1800" kern="1200">
          <a:solidFill>
            <a:schemeClr val="tx1"/>
          </a:solidFill>
          <a:latin typeface="+mn-lt"/>
          <a:ea typeface="+mn-ea"/>
          <a:cs typeface="+mn-cs"/>
        </a:defRPr>
      </a:lvl7pPr>
      <a:lvl8pPr marL="3199260" algn="l" defTabSz="914074" rtl="0" eaLnBrk="1" latinLnBrk="0" hangingPunct="1">
        <a:defRPr sz="1800" kern="1200">
          <a:solidFill>
            <a:schemeClr val="tx1"/>
          </a:solidFill>
          <a:latin typeface="+mn-lt"/>
          <a:ea typeface="+mn-ea"/>
          <a:cs typeface="+mn-cs"/>
        </a:defRPr>
      </a:lvl8pPr>
      <a:lvl9pPr marL="3656296" algn="l" defTabSz="91407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www.nature.com/articles/s41598-023-46568-0?utm_source=rct_congratemailt&amp;utm_medium=email&amp;utm_campaign=oa_20231110&amp;utm_content=10.1038/s41598-023-46568-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mailto:vkejzlar@skidmore.edu"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7" descr="FRIB_ppt_top.jpg">
            <a:extLst>
              <a:ext uri="{FF2B5EF4-FFF2-40B4-BE49-F238E27FC236}">
                <a16:creationId xmlns:a16="http://schemas.microsoft.com/office/drawing/2014/main" id="{409710B4-545C-3780-C2DA-67E5354ACFAF}"/>
              </a:ext>
            </a:extLst>
          </p:cNvPr>
          <p:cNvPicPr>
            <a:picLocks noChangeAspect="1"/>
          </p:cNvPicPr>
          <p:nvPr/>
        </p:nvPicPr>
        <p:blipFill>
          <a:blip r:embed="rId3" cstate="print"/>
          <a:srcRect/>
          <a:stretch>
            <a:fillRect/>
          </a:stretch>
        </p:blipFill>
        <p:spPr bwMode="auto">
          <a:xfrm>
            <a:off x="0" y="0"/>
            <a:ext cx="9144000" cy="1003102"/>
          </a:xfrm>
          <a:prstGeom prst="rect">
            <a:avLst/>
          </a:prstGeom>
          <a:noFill/>
          <a:ln w="9525">
            <a:noFill/>
            <a:miter lim="800000"/>
            <a:headEnd/>
            <a:tailEnd/>
          </a:ln>
        </p:spPr>
      </p:pic>
      <p:sp>
        <p:nvSpPr>
          <p:cNvPr id="2" name="Title 1"/>
          <p:cNvSpPr>
            <a:spLocks noGrp="1"/>
          </p:cNvSpPr>
          <p:nvPr>
            <p:ph type="title" idx="4294967295"/>
          </p:nvPr>
        </p:nvSpPr>
        <p:spPr>
          <a:xfrm>
            <a:off x="-314995" y="177391"/>
            <a:ext cx="9067800" cy="695350"/>
          </a:xfrm>
        </p:spPr>
        <p:txBody>
          <a:bodyPr/>
          <a:lstStyle/>
          <a:p>
            <a:r>
              <a:rPr lang="en-US" sz="2800" dirty="0"/>
              <a:t>BAND Science Highlight</a:t>
            </a:r>
            <a:br>
              <a:rPr lang="en-US" dirty="0"/>
            </a:br>
            <a:r>
              <a:rPr lang="en-US" sz="2000" i="1" dirty="0"/>
              <a:t>Bayesian Dirichlet mixing of imperfect models</a:t>
            </a:r>
            <a:endParaRPr lang="en-US" sz="2000" b="0" dirty="0">
              <a:solidFill>
                <a:srgbClr val="002060"/>
              </a:solidFill>
            </a:endParaRPr>
          </a:p>
        </p:txBody>
      </p:sp>
      <p:sp>
        <p:nvSpPr>
          <p:cNvPr id="8" name="Rectangle 7">
            <a:extLst>
              <a:ext uri="{FF2B5EF4-FFF2-40B4-BE49-F238E27FC236}">
                <a16:creationId xmlns:a16="http://schemas.microsoft.com/office/drawing/2014/main" id="{6CC42E26-8A06-5D41-977D-F460B7C55508}"/>
              </a:ext>
            </a:extLst>
          </p:cNvPr>
          <p:cNvSpPr/>
          <p:nvPr/>
        </p:nvSpPr>
        <p:spPr>
          <a:xfrm>
            <a:off x="129397" y="1129891"/>
            <a:ext cx="4861244" cy="5632311"/>
          </a:xfrm>
          <a:prstGeom prst="rect">
            <a:avLst/>
          </a:prstGeom>
        </p:spPr>
        <p:txBody>
          <a:bodyPr wrap="square">
            <a:spAutoFit/>
          </a:bodyPr>
          <a:lstStyle/>
          <a:p>
            <a:r>
              <a:rPr lang="en-US" b="1" dirty="0"/>
              <a:t>Problem</a:t>
            </a:r>
            <a:r>
              <a:rPr lang="en-US" dirty="0"/>
              <a:t>: To develop methods to improve the predictability of complex computational models in the experimentally-unknown domains,</a:t>
            </a:r>
          </a:p>
          <a:p>
            <a:r>
              <a:rPr lang="en-US" b="1" dirty="0"/>
              <a:t>Method</a:t>
            </a:r>
            <a:r>
              <a:rPr lang="en-US" dirty="0"/>
              <a:t>:  We propose a Bayesian statistical machine learning  framework utilizing the Dirichlet distribution that combines results of several imperfect  models. To illustrate the method, we study the ability of Bayesian model averaging and mixing techniques to mine nuclear masses. </a:t>
            </a:r>
          </a:p>
          <a:p>
            <a:r>
              <a:rPr lang="en-US" b="1" dirty="0"/>
              <a:t>Results</a:t>
            </a:r>
            <a:r>
              <a:rPr lang="en-US" dirty="0"/>
              <a:t>: The global and local mixtures of models reach excellent performance on both prediction accuracy and uncertainty quantification and are preferable to classical Bayesian model averaging. </a:t>
            </a:r>
            <a:r>
              <a:rPr lang="en-US"/>
              <a:t>We </a:t>
            </a:r>
            <a:r>
              <a:rPr lang="en-US" dirty="0"/>
              <a:t>also show that improving model predictions through mixing rather than mixing of corrected models leads to more robust extrapolations.</a:t>
            </a:r>
          </a:p>
          <a:p>
            <a:pPr marL="285750" indent="-285750">
              <a:buFont typeface="Arial" panose="020B0604020202020204" pitchFamily="34" charset="0"/>
              <a:buChar char="•"/>
            </a:pPr>
            <a:r>
              <a:rPr lang="en-US" b="1" dirty="0"/>
              <a:t>Publication</a:t>
            </a:r>
            <a:r>
              <a:rPr lang="en-US" dirty="0"/>
              <a:t>: </a:t>
            </a:r>
            <a:r>
              <a:rPr lang="en-US" dirty="0">
                <a:hlinkClick r:id="rId4"/>
              </a:rPr>
              <a:t>Sci. Rep. 13, 19600 (2023)</a:t>
            </a:r>
            <a:endParaRPr lang="en-US" dirty="0"/>
          </a:p>
        </p:txBody>
      </p:sp>
      <p:sp>
        <p:nvSpPr>
          <p:cNvPr id="13" name="Rectangle 12">
            <a:extLst>
              <a:ext uri="{FF2B5EF4-FFF2-40B4-BE49-F238E27FC236}">
                <a16:creationId xmlns:a16="http://schemas.microsoft.com/office/drawing/2014/main" id="{3879BC4D-33A1-1E4A-A6DA-9910498FE0D2}"/>
              </a:ext>
            </a:extLst>
          </p:cNvPr>
          <p:cNvSpPr/>
          <p:nvPr/>
        </p:nvSpPr>
        <p:spPr>
          <a:xfrm>
            <a:off x="4980493" y="4942908"/>
            <a:ext cx="4027858" cy="1708160"/>
          </a:xfrm>
          <a:prstGeom prst="rect">
            <a:avLst/>
          </a:prstGeom>
        </p:spPr>
        <p:txBody>
          <a:bodyPr wrap="square">
            <a:spAutoFit/>
          </a:bodyPr>
          <a:lstStyle/>
          <a:p>
            <a:r>
              <a:rPr lang="en-US" sz="1500" b="1" dirty="0"/>
              <a:t>Figure</a:t>
            </a:r>
            <a:r>
              <a:rPr lang="en-US" sz="1500" dirty="0"/>
              <a:t>: Empirical coverage probability for raw models without statistical correction together with BMA and BMM variants. The empirical coverage probability  was calculated with equal-tailed credibility intervals. The  reference line (diagonal) is marked by a dashed line.</a:t>
            </a:r>
          </a:p>
        </p:txBody>
      </p:sp>
      <p:pic>
        <p:nvPicPr>
          <p:cNvPr id="6" name="BAND_logo_v2 copy.png" descr="BAND_logo_v2 copy.png">
            <a:extLst>
              <a:ext uri="{FF2B5EF4-FFF2-40B4-BE49-F238E27FC236}">
                <a16:creationId xmlns:a16="http://schemas.microsoft.com/office/drawing/2014/main" id="{D73A2686-DDFE-4B4C-B0A8-E569EE258A4F}"/>
              </a:ext>
            </a:extLst>
          </p:cNvPr>
          <p:cNvPicPr>
            <a:picLocks noChangeAspect="1"/>
          </p:cNvPicPr>
          <p:nvPr/>
        </p:nvPicPr>
        <p:blipFill>
          <a:blip r:embed="rId5"/>
          <a:stretch>
            <a:fillRect/>
          </a:stretch>
        </p:blipFill>
        <p:spPr>
          <a:xfrm>
            <a:off x="7161506" y="35707"/>
            <a:ext cx="1966624" cy="851619"/>
          </a:xfrm>
          <a:prstGeom prst="rect">
            <a:avLst/>
          </a:prstGeom>
          <a:ln w="12700">
            <a:miter lim="400000"/>
          </a:ln>
        </p:spPr>
      </p:pic>
      <p:pic>
        <p:nvPicPr>
          <p:cNvPr id="7" name="NSF_4-Color_bitmap_Logo.png" descr="NSF_4-Color_bitmap_Logo.png">
            <a:extLst>
              <a:ext uri="{FF2B5EF4-FFF2-40B4-BE49-F238E27FC236}">
                <a16:creationId xmlns:a16="http://schemas.microsoft.com/office/drawing/2014/main" id="{65E4889A-E6D8-4C4C-96A6-9A0137CCF0DF}"/>
              </a:ext>
            </a:extLst>
          </p:cNvPr>
          <p:cNvPicPr>
            <a:picLocks noChangeAspect="1"/>
          </p:cNvPicPr>
          <p:nvPr/>
        </p:nvPicPr>
        <p:blipFill>
          <a:blip r:embed="rId6"/>
          <a:stretch>
            <a:fillRect/>
          </a:stretch>
        </p:blipFill>
        <p:spPr>
          <a:xfrm>
            <a:off x="129397" y="35707"/>
            <a:ext cx="947548" cy="952500"/>
          </a:xfrm>
          <a:prstGeom prst="rect">
            <a:avLst/>
          </a:prstGeom>
          <a:ln w="12700">
            <a:miter lim="400000"/>
          </a:ln>
        </p:spPr>
      </p:pic>
      <p:pic>
        <p:nvPicPr>
          <p:cNvPr id="4" name="Picture 3">
            <a:extLst>
              <a:ext uri="{FF2B5EF4-FFF2-40B4-BE49-F238E27FC236}">
                <a16:creationId xmlns:a16="http://schemas.microsoft.com/office/drawing/2014/main" id="{2217A7F1-649E-6EBB-3E86-EF0AF3363C37}"/>
              </a:ext>
            </a:extLst>
          </p:cNvPr>
          <p:cNvPicPr>
            <a:picLocks noChangeAspect="1"/>
          </p:cNvPicPr>
          <p:nvPr/>
        </p:nvPicPr>
        <p:blipFill>
          <a:blip r:embed="rId7"/>
          <a:stretch>
            <a:fillRect/>
          </a:stretch>
        </p:blipFill>
        <p:spPr>
          <a:xfrm>
            <a:off x="5033290" y="1061012"/>
            <a:ext cx="3975061" cy="3881896"/>
          </a:xfrm>
          <a:prstGeom prst="rect">
            <a:avLst/>
          </a:prstGeom>
        </p:spPr>
      </p:pic>
    </p:spTree>
    <p:extLst>
      <p:ext uri="{BB962C8B-B14F-4D97-AF65-F5344CB8AC3E}">
        <p14:creationId xmlns:p14="http://schemas.microsoft.com/office/powerpoint/2010/main" val="1991637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1768661-08BA-978B-64DD-7DC9BE4FC621}"/>
              </a:ext>
            </a:extLst>
          </p:cNvPr>
          <p:cNvSpPr txBox="1"/>
          <p:nvPr/>
        </p:nvSpPr>
        <p:spPr>
          <a:xfrm>
            <a:off x="2068417" y="298093"/>
            <a:ext cx="6130887" cy="369332"/>
          </a:xfrm>
          <a:prstGeom prst="rect">
            <a:avLst/>
          </a:prstGeom>
          <a:noFill/>
        </p:spPr>
        <p:txBody>
          <a:bodyPr wrap="square">
            <a:spAutoFit/>
          </a:bodyPr>
          <a:lstStyle/>
          <a:p>
            <a:r>
              <a:rPr lang="en-US" sz="1800" b="1" dirty="0"/>
              <a:t>Local Bayesian Dirichlet mixing of imperfect models</a:t>
            </a:r>
            <a:endParaRPr lang="en-US" b="1" dirty="0"/>
          </a:p>
        </p:txBody>
      </p:sp>
      <p:sp>
        <p:nvSpPr>
          <p:cNvPr id="10" name="TextBox 9">
            <a:extLst>
              <a:ext uri="{FF2B5EF4-FFF2-40B4-BE49-F238E27FC236}">
                <a16:creationId xmlns:a16="http://schemas.microsoft.com/office/drawing/2014/main" id="{45D93EF4-C227-7E55-8963-36054937FC74}"/>
              </a:ext>
            </a:extLst>
          </p:cNvPr>
          <p:cNvSpPr txBox="1"/>
          <p:nvPr/>
        </p:nvSpPr>
        <p:spPr>
          <a:xfrm>
            <a:off x="1740664" y="3509914"/>
            <a:ext cx="7242698" cy="646331"/>
          </a:xfrm>
          <a:prstGeom prst="rect">
            <a:avLst/>
          </a:prstGeom>
          <a:noFill/>
        </p:spPr>
        <p:txBody>
          <a:bodyPr wrap="square">
            <a:spAutoFit/>
          </a:bodyPr>
          <a:lstStyle/>
          <a:p>
            <a:r>
              <a:rPr lang="en-US" b="1" dirty="0"/>
              <a:t>Contact</a:t>
            </a:r>
            <a:r>
              <a:rPr lang="en-US" dirty="0"/>
              <a:t>: </a:t>
            </a:r>
            <a:r>
              <a:rPr lang="en-US" dirty="0" err="1"/>
              <a:t>Vojta</a:t>
            </a:r>
            <a:r>
              <a:rPr lang="en-US" dirty="0"/>
              <a:t> </a:t>
            </a:r>
            <a:r>
              <a:rPr lang="en-US" dirty="0" err="1"/>
              <a:t>Kejzlar</a:t>
            </a:r>
            <a:r>
              <a:rPr lang="en-US" dirty="0"/>
              <a:t> (</a:t>
            </a:r>
            <a:r>
              <a:rPr lang="en-US" dirty="0">
                <a:hlinkClick r:id="rId2"/>
              </a:rPr>
              <a:t>vkejzlar@skidmore.edu</a:t>
            </a:r>
            <a:r>
              <a:rPr lang="en-US" dirty="0"/>
              <a:t>)</a:t>
            </a:r>
          </a:p>
          <a:p>
            <a:r>
              <a:rPr lang="en-US" dirty="0"/>
              <a:t>               </a:t>
            </a:r>
            <a:r>
              <a:rPr lang="en-US" dirty="0" err="1"/>
              <a:t>Witek</a:t>
            </a:r>
            <a:r>
              <a:rPr lang="en-US" dirty="0"/>
              <a:t> </a:t>
            </a:r>
            <a:r>
              <a:rPr lang="en-US" dirty="0" err="1"/>
              <a:t>Nazarewicz</a:t>
            </a:r>
            <a:r>
              <a:rPr lang="en-US" dirty="0"/>
              <a:t> (</a:t>
            </a:r>
            <a:r>
              <a:rPr lang="en-US" dirty="0" err="1"/>
              <a:t>witek@frib.msu.edu</a:t>
            </a:r>
            <a:r>
              <a:rPr lang="en-US" dirty="0"/>
              <a:t>)</a:t>
            </a:r>
          </a:p>
        </p:txBody>
      </p:sp>
      <p:pic>
        <p:nvPicPr>
          <p:cNvPr id="12" name="Picture 11">
            <a:extLst>
              <a:ext uri="{FF2B5EF4-FFF2-40B4-BE49-F238E27FC236}">
                <a16:creationId xmlns:a16="http://schemas.microsoft.com/office/drawing/2014/main" id="{44EAF01F-4075-3ECC-3C9C-2F67FDC44891}"/>
              </a:ext>
            </a:extLst>
          </p:cNvPr>
          <p:cNvPicPr>
            <a:picLocks noChangeAspect="1"/>
          </p:cNvPicPr>
          <p:nvPr/>
        </p:nvPicPr>
        <p:blipFill>
          <a:blip r:embed="rId3"/>
          <a:stretch>
            <a:fillRect/>
          </a:stretch>
        </p:blipFill>
        <p:spPr>
          <a:xfrm>
            <a:off x="1740664" y="686572"/>
            <a:ext cx="3315501" cy="2581412"/>
          </a:xfrm>
          <a:prstGeom prst="rect">
            <a:avLst/>
          </a:prstGeom>
        </p:spPr>
      </p:pic>
      <p:sp>
        <p:nvSpPr>
          <p:cNvPr id="14" name="TextBox 13">
            <a:extLst>
              <a:ext uri="{FF2B5EF4-FFF2-40B4-BE49-F238E27FC236}">
                <a16:creationId xmlns:a16="http://schemas.microsoft.com/office/drawing/2014/main" id="{8B7443D3-1797-5171-1893-39BD18346179}"/>
              </a:ext>
            </a:extLst>
          </p:cNvPr>
          <p:cNvSpPr txBox="1"/>
          <p:nvPr/>
        </p:nvSpPr>
        <p:spPr>
          <a:xfrm>
            <a:off x="5133861" y="927236"/>
            <a:ext cx="3657024" cy="2308324"/>
          </a:xfrm>
          <a:prstGeom prst="rect">
            <a:avLst/>
          </a:prstGeom>
          <a:noFill/>
        </p:spPr>
        <p:txBody>
          <a:bodyPr wrap="square">
            <a:spAutoFit/>
          </a:bodyPr>
          <a:lstStyle/>
          <a:p>
            <a:r>
              <a:rPr lang="en-US" dirty="0"/>
              <a:t>To improve the predictability of complex computational models in the experimentally-unknown domains, we propose a Bayesian statistical machine learning  framework utilizing the Dirichlet distribution that combines results of several imperfect  models. </a:t>
            </a:r>
          </a:p>
        </p:txBody>
      </p:sp>
    </p:spTree>
    <p:extLst>
      <p:ext uri="{BB962C8B-B14F-4D97-AF65-F5344CB8AC3E}">
        <p14:creationId xmlns:p14="http://schemas.microsoft.com/office/powerpoint/2010/main" val="4216513120"/>
      </p:ext>
    </p:extLst>
  </p:cSld>
  <p:clrMapOvr>
    <a:masterClrMapping/>
  </p:clrMapOvr>
</p:sld>
</file>

<file path=ppt/theme/theme1.xml><?xml version="1.0" encoding="utf-8"?>
<a:theme xmlns:a="http://schemas.openxmlformats.org/drawingml/2006/main" name="FRIB3">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10_CKG FRIB no-line h">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KG FRIB no-line h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KG FRIB no-line h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KG FRIB no-line h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KG FRIB no-line h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KG FRIB no-line h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KG FRIB no-line h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KG FRIB no-line h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KG FRIB no-line h 8">
        <a:dk1>
          <a:srgbClr val="000000"/>
        </a:dk1>
        <a:lt1>
          <a:srgbClr val="FFFFFF"/>
        </a:lt1>
        <a:dk2>
          <a:srgbClr val="1F1DE8"/>
        </a:dk2>
        <a:lt2>
          <a:srgbClr val="007469"/>
        </a:lt2>
        <a:accent1>
          <a:srgbClr val="FC0128"/>
        </a:accent1>
        <a:accent2>
          <a:srgbClr val="CF16CE"/>
        </a:accent2>
        <a:accent3>
          <a:srgbClr val="FFFFFF"/>
        </a:accent3>
        <a:accent4>
          <a:srgbClr val="000000"/>
        </a:accent4>
        <a:accent5>
          <a:srgbClr val="FDAAAC"/>
        </a:accent5>
        <a:accent6>
          <a:srgbClr val="BB13BA"/>
        </a:accent6>
        <a:hlink>
          <a:srgbClr val="F39FD1"/>
        </a:hlink>
        <a:folHlink>
          <a:srgbClr val="7C0F5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150824 FRIB Lab Advisory Committee.potx" id="{4E372246-C949-4F86-A55C-4B04B477BB30}" vid="{C8A0F856-BF19-4712-8829-C30822FD06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TotalTime>
  <Words>238</Words>
  <Application>Microsoft Macintosh PowerPoint</Application>
  <PresentationFormat>On-screen Show (4:3)</PresentationFormat>
  <Paragraphs>11</Paragraphs>
  <Slides>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Helvetica</vt:lpstr>
      <vt:lpstr>Lucida Grande</vt:lpstr>
      <vt:lpstr>Wingdings</vt:lpstr>
      <vt:lpstr>FRIB3</vt:lpstr>
      <vt:lpstr>BAND Science Highlight Bayesian Dirichlet mixing of imperfect models</vt:lpstr>
      <vt:lpstr>PowerPoint Presentation</vt:lpstr>
    </vt:vector>
  </TitlesOfParts>
  <Manager/>
  <Company>MSU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Experiment-Theory Interaction</dc:title>
  <dc:subject/>
  <dc:creator>Witold Nazarewicz</dc:creator>
  <cp:keywords/>
  <dc:description/>
  <cp:lastModifiedBy>Nazarewicz, Witold</cp:lastModifiedBy>
  <cp:revision>106</cp:revision>
  <dcterms:created xsi:type="dcterms:W3CDTF">2016-02-16T15:41:10Z</dcterms:created>
  <dcterms:modified xsi:type="dcterms:W3CDTF">2023-11-10T14:55:24Z</dcterms:modified>
  <cp:category/>
</cp:coreProperties>
</file>